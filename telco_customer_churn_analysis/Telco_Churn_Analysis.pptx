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2A3580">
              <a:alpha val="50000"/>
            </a:srgbClr>
          </a:solidFill>
          <a:ln w="12700">
            <a:solidFill>
              <a:srgbClr val="2A358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0"/>
            <a:ext cx="2011680" cy="201168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Model Results &amp; Retention Strategy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7,043 Customers  |  IBM Telco Churn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1945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Quality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dataset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51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+ Services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28016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51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churned customers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 Issues Found &amp; How We Fixed Them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3931920" cy="475488"/>
          </a:xfrm>
          <a:prstGeom prst="rect">
            <a:avLst/>
          </a:prstGeom>
          <a:solidFill>
            <a:srgbClr val="E8504A">
              <a:alpha val="15000"/>
            </a:srgbClr>
          </a:solidFill>
          <a:ln w="12700">
            <a:solidFill>
              <a:srgbClr val="E8504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26080"/>
            <a:ext cx="3931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TotalCharges stored as 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2926080"/>
            <a:ext cx="4572000" cy="47548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926080"/>
            <a:ext cx="4572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Converted to numeric — 11 missing values filled with median (protects against outlier distortion)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3931920" cy="475488"/>
          </a:xfrm>
          <a:prstGeom prst="rect">
            <a:avLst/>
          </a:prstGeom>
          <a:solidFill>
            <a:srgbClr val="E8504A">
              <a:alpha val="15000"/>
            </a:srgbClr>
          </a:solidFill>
          <a:ln w="12700">
            <a:solidFill>
              <a:srgbClr val="E8504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47872"/>
            <a:ext cx="3931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Mixed encoding formats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547872"/>
            <a:ext cx="4572000" cy="47548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3547872"/>
            <a:ext cx="4572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Binary columns (Yes/No) mapped to 1/0. Multi-class columns one-hot encoded for ML compatibility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69664"/>
            <a:ext cx="3931920" cy="475488"/>
          </a:xfrm>
          <a:prstGeom prst="rect">
            <a:avLst/>
          </a:prstGeom>
          <a:solidFill>
            <a:srgbClr val="E8504A">
              <a:alpha val="15000"/>
            </a:srgbClr>
          </a:solidFill>
          <a:ln w="12700">
            <a:solidFill>
              <a:srgbClr val="E8504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69664"/>
            <a:ext cx="3931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customerID column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169664"/>
            <a:ext cx="4572000" cy="47548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4169664"/>
            <a:ext cx="457200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Excluded — unique identifier with zero predictive signal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2926080"/>
            <a:ext cx="0" cy="1865376"/>
          </a:xfrm>
          <a:prstGeom prst="line">
            <a:avLst/>
          </a:prstGeom>
          <a:noFill/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7889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3400" y="27889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Type: The #1 Churn Driver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4294937" cy="7315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2377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2057400"/>
            <a:ext cx="1136599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57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14039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3108960"/>
            <a:ext cx="281635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9075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30175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46304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are 15× more likely to churn than two-year customers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month-to-month customers leave — nearly 1 in 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contracts are the strongest protection against churn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Action: Incentivize month-to-month customers to upgrade to annual contracts — this single lever has the highest churn reduction potential.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Monthly Charges vs Churn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(months)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737360" cy="52578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280160"/>
            <a:ext cx="1737360" cy="19979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0" cy="2834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CHARGES ($)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26327"/>
            <a:ext cx="1737360" cy="1956953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72047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$74.44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2553"/>
            <a:ext cx="1737360" cy="161072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818273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$61.27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960120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Window: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leave at a median of just 10 months — the first year is make-or-break.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Bills = Higher Risk: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paid $13/month more on average, suggesting price sensitivity is a real factor.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Add-Ons: What Protects Against Churn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651760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4356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segment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51560"/>
            <a:ext cx="2651760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14356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3× higher than secured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51560"/>
            <a:ext cx="2651760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14356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8076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absence doubles risk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7432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743200"/>
            <a:ext cx="2651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28600" y="3749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cuts churn by 65%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27432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743200"/>
            <a:ext cx="2651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5468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154680" y="3749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5468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 group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743200"/>
            <a:ext cx="26517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743200"/>
            <a:ext cx="26517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080760" y="3749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34840"/>
            <a:ext cx="8595360" cy="7086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Bundling Online Security + Tech Support as a discounted add-on (especially in months 1–6) can cut churn by up to 65% in the unprotected segment.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Who's Most at Risk?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097280"/>
            <a:ext cx="138111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67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490472"/>
            <a:ext cx="2440351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4911" y="14904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051560"/>
            <a:ext cx="338328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 vs 23.6% — seniors are nearly twice as likely to leave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859536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1947672"/>
            <a:ext cx="1152876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7436" y="1947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2340864"/>
            <a:ext cx="1931213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5773" y="23408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1901952"/>
            <a:ext cx="338328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customers churn at 1.7× the rate of customers with partners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859536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523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48840" y="2798064"/>
            <a:ext cx="10358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0392" y="27980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3191256"/>
            <a:ext cx="1831726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6286" y="31912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752344"/>
            <a:ext cx="338328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no dependents churn almost 2×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75304"/>
            <a:ext cx="859536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027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48840" y="3648456"/>
            <a:ext cx="1533266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7826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48840" y="4041648"/>
            <a:ext cx="1574231" cy="347472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8791" y="4041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3602736"/>
            <a:ext cx="338328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has virtually no impact on churn behaviour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48840" y="4572000"/>
            <a:ext cx="2286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45537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4572000"/>
            <a:ext cx="228600" cy="18288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45537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Built &amp;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114800" cy="32004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114800" cy="457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140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414016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114800" cy="457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907792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401568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895344"/>
            <a:ext cx="4114800" cy="457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895344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1148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05840"/>
            <a:ext cx="41148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1508760"/>
            <a:ext cx="4114800" cy="320040"/>
          </a:xfrm>
          <a:prstGeom prst="rect">
            <a:avLst/>
          </a:prstGeom>
          <a:solidFill>
            <a:srgbClr val="64748B">
              <a:alpha val="20000"/>
            </a:srgbClr>
          </a:solidFill>
          <a:ln w="12700">
            <a:solidFill>
              <a:srgbClr val="64748B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— Not Selected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4114800" cy="457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1920240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79–81%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24140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4140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2414016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57–65%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2907792"/>
            <a:ext cx="4114800" cy="457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2907792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68–72%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340156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3401568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62–68%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46320" y="3895344"/>
            <a:ext cx="4114800" cy="457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3895344"/>
            <a:ext cx="1234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LR? In churn prediction, recall is more important — catching at-risk customers before they leave is worth more than perfect precision.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 Driving Customer Churn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040380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758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38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(shorter = riskier)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281635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2322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 (higher = riskier)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2560320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803904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03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2304288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Security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1389888"/>
            <a:ext cx="2176272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938528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938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Support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22576"/>
            <a:ext cx="2048256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2322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871216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Contract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255264"/>
            <a:ext cx="27203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4954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Lowers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3904"/>
            <a:ext cx="4114800" cy="804672"/>
          </a:xfrm>
          <a:prstGeom prst="rect">
            <a:avLst/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803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4187952"/>
            <a:ext cx="1760220" cy="27432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942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Raises risk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&amp; Retention Simulations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51760" cy="1143000"/>
          </a:xfrm>
          <a:prstGeom prst="rect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56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of total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Lost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856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churned customer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517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$2.86M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at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856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Comparison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41148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51760"/>
            <a:ext cx="4114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 — 20% Discount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Customer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 / customer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Retained (1yr)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4564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$854 / year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803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/ Customer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80390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$676 net gain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151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Customers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41513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customers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651760"/>
            <a:ext cx="411480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65176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 — Loyalty Perks ($5/mo)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RECOMMENDED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Customer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/ customer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685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Retained (1yr)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3685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$893 / year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325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/ Customer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403250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$833 net gain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379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Customers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43799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these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1600200"/>
          </a:xfrm>
          <a:prstGeom prst="rect">
            <a:avLst/>
          </a:prstGeom>
          <a:solidFill>
            <a:srgbClr val="2A3580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5272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1280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Month-to-Month Customers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meaningful incentive (first month free, discounted rate) to upgrade to an annual contract. This single action has the highest churn reduction potential in the dataset.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2A358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252728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31536" y="1280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Protective Services Early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647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Online Security + Tech Support as a bundled discount for new customers during their first 6 months. Customers without these services churn at nearly 3× the rate.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023360" cy="1600200"/>
          </a:xfrm>
          <a:prstGeom prst="rect">
            <a:avLst/>
          </a:prstGeom>
          <a:solidFill>
            <a:srgbClr val="2A3580"/>
          </a:solidFill>
          <a:ln w="25400">
            <a:solidFill>
              <a:srgbClr val="E850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081528"/>
            <a:ext cx="475488" cy="475488"/>
          </a:xfrm>
          <a:prstGeom prst="ellipse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High-Risk High-Value Segment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5935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Strategy B (Loyalty Perks) to customers with churn probability &gt;60% AND monthly charges in the top 25%. ROI is highest here — 60 retained customers cover a $50K campaign.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2A3580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308152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1536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in Year 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935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customers with tenure &lt;12 months + no security + no tech support as triple-risk. Trigger automated outreach at month 3 and month 9 before they become flight risks.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PptxGenJS Presentation</dc:subject>
  <dc:creator>PptxGenJS</dc:creator>
  <cp:lastModifiedBy>PptxGenJS</cp:lastModifiedBy>
  <cp:revision>1</cp:revision>
  <dcterms:created xsi:type="dcterms:W3CDTF">2026-05-16T09:54:14Z</dcterms:created>
  <dcterms:modified xsi:type="dcterms:W3CDTF">2026-05-16T09:54:14Z</dcterms:modified>
</cp:coreProperties>
</file>